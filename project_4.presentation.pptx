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enor Sans" charset="1" panose="02000000000000000000"/>
      <p:regular r:id="rId15"/>
    </p:embeddedFon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  <p:embeddedFont>
      <p:font typeface="Canva Sans Bold" charset="1" panose="020B0803030501040103"/>
      <p:regular r:id="rId18"/>
    </p:embeddedFont>
    <p:embeddedFont>
      <p:font typeface="League Spartan" charset="1" panose="00000800000000000000"/>
      <p:regular r:id="rId19"/>
    </p:embeddedFont>
    <p:embeddedFont>
      <p:font typeface="Canva Sans" charset="1" panose="020B0503030501040103"/>
      <p:regular r:id="rId20"/>
    </p:embeddedFont>
    <p:embeddedFont>
      <p:font typeface="Gagalin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145142"/>
            <a:ext cx="18288000" cy="5246370"/>
            <a:chOff x="0" y="0"/>
            <a:chExt cx="283329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812800"/>
            </a:xfrm>
            <a:custGeom>
              <a:avLst/>
              <a:gdLst/>
              <a:ahLst/>
              <a:cxnLst/>
              <a:rect r="r" b="b" t="t" l="l"/>
              <a:pathLst>
                <a:path h="812800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>
                <a:alphaModFix amt="63000"/>
              </a:blip>
              <a:stretch>
                <a:fillRect l="0" t="-68174" r="0" b="-6442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776921" y="529591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2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2046" y="4129803"/>
            <a:ext cx="16260054" cy="238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0"/>
              </a:lnSpc>
            </a:pPr>
            <a:r>
              <a:rPr lang="en-US" sz="7932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Mobile Price Prediction Using Machine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13521" y="6655453"/>
            <a:ext cx="12587763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</a:t>
            </a: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ure Extraction • Data Analysis • Model Evaluation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14451" y="3693507"/>
            <a:ext cx="6289699" cy="40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2"/>
              </a:lnSpc>
              <a:spcBef>
                <a:spcPct val="0"/>
              </a:spcBef>
            </a:pPr>
            <a:r>
              <a:rPr lang="en-US" sz="2322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22" strike="noStrike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322" strike="noStrike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322" strike="noStrike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322" strike="noStrike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22" strike="noStrike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22" strike="noStrike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 By: Roh</a:t>
            </a:r>
            <a:r>
              <a:rPr lang="en-US" sz="2322" strike="noStrike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en-US" sz="2322" strike="noStrike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Rath</a:t>
            </a:r>
            <a:r>
              <a:rPr lang="en-US" sz="2322" strike="noStrike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322" strike="noStrike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471" y="9563118"/>
            <a:ext cx="17111412" cy="540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Technology:</a:t>
            </a:r>
            <a:r>
              <a:rPr lang="en-US" sz="310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Python | Pandas | NumPy | Matplotlib | Seaborn | Scikit-learn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32104" y="7558155"/>
            <a:ext cx="3031707" cy="1263211"/>
          </a:xfrm>
          <a:custGeom>
            <a:avLst/>
            <a:gdLst/>
            <a:ahLst/>
            <a:cxnLst/>
            <a:rect r="r" b="b" t="t" l="l"/>
            <a:pathLst>
              <a:path h="1263211" w="3031707">
                <a:moveTo>
                  <a:pt x="0" y="0"/>
                </a:moveTo>
                <a:lnTo>
                  <a:pt x="3031707" y="0"/>
                </a:lnTo>
                <a:lnTo>
                  <a:pt x="3031707" y="1263211"/>
                </a:lnTo>
                <a:lnTo>
                  <a:pt x="0" y="1263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47012" y="-1028700"/>
            <a:ext cx="3119767" cy="4114800"/>
          </a:xfrm>
          <a:custGeom>
            <a:avLst/>
            <a:gdLst/>
            <a:ahLst/>
            <a:cxnLst/>
            <a:rect r="r" b="b" t="t" l="l"/>
            <a:pathLst>
              <a:path h="4114800" w="3119767">
                <a:moveTo>
                  <a:pt x="0" y="0"/>
                </a:moveTo>
                <a:lnTo>
                  <a:pt x="3119766" y="0"/>
                </a:lnTo>
                <a:lnTo>
                  <a:pt x="31197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05223" y="-121336"/>
            <a:ext cx="9251855" cy="10408336"/>
            <a:chOff x="0" y="0"/>
            <a:chExt cx="1416645" cy="1593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6645" cy="1593725"/>
            </a:xfrm>
            <a:custGeom>
              <a:avLst/>
              <a:gdLst/>
              <a:ahLst/>
              <a:cxnLst/>
              <a:rect r="r" b="b" t="t" l="l"/>
              <a:pathLst>
                <a:path h="1593725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>
                <a:alphaModFix amt="87000"/>
              </a:blip>
              <a:stretch>
                <a:fillRect l="-34298" t="0" r="-34298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34752" y="2115410"/>
            <a:ext cx="8547200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Smartph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prices depend on several specifications such as RAM, Memory, Battery, Camera and Processor. The objective of this project is to analyze these features and develop a Machine Learning model capable of predicting smartphone prices.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77202" y="1249258"/>
            <a:ext cx="4110579" cy="1351098"/>
            <a:chOff x="0" y="0"/>
            <a:chExt cx="5480772" cy="18014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1509" cy="531871"/>
            </a:xfrm>
            <a:custGeom>
              <a:avLst/>
              <a:gdLst/>
              <a:ahLst/>
              <a:cxnLst/>
              <a:rect r="r" b="b" t="t" l="l"/>
              <a:pathLst>
                <a:path h="531871" w="701509">
                  <a:moveTo>
                    <a:pt x="0" y="0"/>
                  </a:moveTo>
                  <a:lnTo>
                    <a:pt x="701509" y="0"/>
                  </a:lnTo>
                  <a:lnTo>
                    <a:pt x="701509" y="531871"/>
                  </a:lnTo>
                  <a:lnTo>
                    <a:pt x="0" y="531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350754" y="-76200"/>
              <a:ext cx="5130017" cy="1877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780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</a:t>
              </a:r>
              <a:r>
                <a:rPr lang="en-US" b="true" sz="27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roblem Statement</a:t>
              </a:r>
            </a:p>
            <a:p>
              <a:pPr algn="r">
                <a:lnSpc>
                  <a:spcPts val="3780"/>
                </a:lnSpc>
                <a:spcBef>
                  <a:spcPct val="0"/>
                </a:spcBef>
              </a:pPr>
            </a:p>
            <a:p>
              <a:pPr algn="l">
                <a:lnSpc>
                  <a:spcPts val="37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897768" y="82550"/>
            <a:ext cx="3557761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59"/>
              </a:lnSpc>
              <a:spcBef>
                <a:spcPct val="0"/>
              </a:spcBef>
            </a:pPr>
            <a:r>
              <a:rPr lang="en-US" b="true" sz="2899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2899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roject Overview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01947" y="4917485"/>
            <a:ext cx="6166301" cy="571270"/>
            <a:chOff x="0" y="0"/>
            <a:chExt cx="8221734" cy="76169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76200"/>
              <a:ext cx="8221734" cy="837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52"/>
                </a:lnSpc>
              </a:pPr>
              <a:r>
                <a:rPr lang="en-US" sz="375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Project</a:t>
              </a:r>
              <a:r>
                <a:rPr lang="en-US" b="true" sz="375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Objectives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9004" cy="734681"/>
            </a:xfrm>
            <a:custGeom>
              <a:avLst/>
              <a:gdLst/>
              <a:ahLst/>
              <a:cxnLst/>
              <a:rect r="r" b="b" t="t" l="l"/>
              <a:pathLst>
                <a:path h="734681" w="969004">
                  <a:moveTo>
                    <a:pt x="0" y="0"/>
                  </a:moveTo>
                  <a:lnTo>
                    <a:pt x="969004" y="0"/>
                  </a:lnTo>
                  <a:lnTo>
                    <a:pt x="969004" y="734681"/>
                  </a:lnTo>
                  <a:lnTo>
                    <a:pt x="0" y="734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01947" y="5944871"/>
            <a:ext cx="11899771" cy="331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Analyze smartphone specifications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Clean and prepare the dataset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Extract relevant numerical features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Study relationships between features and price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 and compare regression models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Select the best-performing model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892" y="204354"/>
            <a:ext cx="18571892" cy="10287000"/>
            <a:chOff x="0" y="0"/>
            <a:chExt cx="2877272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77272" cy="1593725"/>
            </a:xfrm>
            <a:custGeom>
              <a:avLst/>
              <a:gdLst/>
              <a:ahLst/>
              <a:cxnLst/>
              <a:rect r="r" b="b" t="t" l="l"/>
              <a:pathLst>
                <a:path h="1593725" w="2877272">
                  <a:moveTo>
                    <a:pt x="0" y="0"/>
                  </a:moveTo>
                  <a:lnTo>
                    <a:pt x="2877272" y="0"/>
                  </a:lnTo>
                  <a:lnTo>
                    <a:pt x="287727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>
                <a:alphaModFix amt="81000"/>
              </a:blip>
              <a:stretch>
                <a:fillRect l="0" t="-803" r="0" b="-80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386291" y="655660"/>
            <a:ext cx="984039" cy="746080"/>
          </a:xfrm>
          <a:custGeom>
            <a:avLst/>
            <a:gdLst/>
            <a:ahLst/>
            <a:cxnLst/>
            <a:rect r="r" b="b" t="t" l="l"/>
            <a:pathLst>
              <a:path h="746080" w="984039">
                <a:moveTo>
                  <a:pt x="0" y="0"/>
                </a:moveTo>
                <a:lnTo>
                  <a:pt x="984038" y="0"/>
                </a:lnTo>
                <a:lnTo>
                  <a:pt x="984038" y="746080"/>
                </a:lnTo>
                <a:lnTo>
                  <a:pt x="0" y="746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75808" y="432954"/>
            <a:ext cx="5030426" cy="5321443"/>
          </a:xfrm>
          <a:custGeom>
            <a:avLst/>
            <a:gdLst/>
            <a:ahLst/>
            <a:cxnLst/>
            <a:rect r="r" b="b" t="t" l="l"/>
            <a:pathLst>
              <a:path h="5321443" w="5030426">
                <a:moveTo>
                  <a:pt x="0" y="0"/>
                </a:moveTo>
                <a:lnTo>
                  <a:pt x="5030426" y="0"/>
                </a:lnTo>
                <a:lnTo>
                  <a:pt x="5030426" y="5321443"/>
                </a:lnTo>
                <a:lnTo>
                  <a:pt x="0" y="5321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1416645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645" cy="1593725"/>
            </a:xfrm>
            <a:custGeom>
              <a:avLst/>
              <a:gdLst/>
              <a:ahLst/>
              <a:cxnLst/>
              <a:rect r="r" b="b" t="t" l="l"/>
              <a:pathLst>
                <a:path h="1593725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>
                <a:alphaModFix amt="81000"/>
              </a:blip>
              <a:stretch>
                <a:fillRect l="-34298" t="0" r="-3429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200477" y="6495747"/>
            <a:ext cx="3119767" cy="4114800"/>
          </a:xfrm>
          <a:custGeom>
            <a:avLst/>
            <a:gdLst/>
            <a:ahLst/>
            <a:cxnLst/>
            <a:rect r="r" b="b" t="t" l="l"/>
            <a:pathLst>
              <a:path h="4114800" w="3119767">
                <a:moveTo>
                  <a:pt x="0" y="0"/>
                </a:moveTo>
                <a:lnTo>
                  <a:pt x="3119766" y="0"/>
                </a:lnTo>
                <a:lnTo>
                  <a:pt x="31197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172997" y="4029497"/>
            <a:ext cx="6665636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oved unnecessary index information.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Converted Rear Camera and Front Camera from text to numeric.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Removed MP suffix from camera values.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Removed commas from Price and converted it to integer.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Checked missing values — no null values found.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Applied IQR method for outlier detection.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506015" y="741385"/>
            <a:ext cx="6840934" cy="285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9"/>
              </a:lnSpc>
              <a:spcBef>
                <a:spcPct val="0"/>
              </a:spcBef>
            </a:pP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Data P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rep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rocess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ing</a:t>
            </a:r>
          </a:p>
          <a:p>
            <a:pPr algn="l" marL="0" indent="0" lvl="0">
              <a:lnSpc>
                <a:spcPts val="748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386291" y="655660"/>
            <a:ext cx="984039" cy="746080"/>
          </a:xfrm>
          <a:custGeom>
            <a:avLst/>
            <a:gdLst/>
            <a:ahLst/>
            <a:cxnLst/>
            <a:rect r="r" b="b" t="t" l="l"/>
            <a:pathLst>
              <a:path h="746080" w="984039">
                <a:moveTo>
                  <a:pt x="0" y="0"/>
                </a:moveTo>
                <a:lnTo>
                  <a:pt x="984038" y="0"/>
                </a:lnTo>
                <a:lnTo>
                  <a:pt x="984038" y="746080"/>
                </a:lnTo>
                <a:lnTo>
                  <a:pt x="0" y="7460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72997" y="2993004"/>
            <a:ext cx="6665636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</a:t>
            </a:r>
            <a:r>
              <a:rPr lang="en-US" sz="32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Cleaning &amp; Preparation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6046002" y="-624658"/>
            <a:ext cx="2062188" cy="3306716"/>
          </a:xfrm>
          <a:custGeom>
            <a:avLst/>
            <a:gdLst/>
            <a:ahLst/>
            <a:cxnLst/>
            <a:rect r="r" b="b" t="t" l="l"/>
            <a:pathLst>
              <a:path h="3306716" w="2062188">
                <a:moveTo>
                  <a:pt x="0" y="3306716"/>
                </a:moveTo>
                <a:lnTo>
                  <a:pt x="2062188" y="3306716"/>
                </a:lnTo>
                <a:lnTo>
                  <a:pt x="2062188" y="0"/>
                </a:lnTo>
                <a:lnTo>
                  <a:pt x="0" y="0"/>
                </a:lnTo>
                <a:lnTo>
                  <a:pt x="0" y="33067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54369" y="6980284"/>
            <a:ext cx="2062188" cy="3306716"/>
          </a:xfrm>
          <a:custGeom>
            <a:avLst/>
            <a:gdLst/>
            <a:ahLst/>
            <a:cxnLst/>
            <a:rect r="r" b="b" t="t" l="l"/>
            <a:pathLst>
              <a:path h="3306716" w="2062188">
                <a:moveTo>
                  <a:pt x="0" y="0"/>
                </a:moveTo>
                <a:lnTo>
                  <a:pt x="2062188" y="0"/>
                </a:lnTo>
                <a:lnTo>
                  <a:pt x="2062188" y="3306716"/>
                </a:lnTo>
                <a:lnTo>
                  <a:pt x="0" y="3306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31768" y="1229915"/>
            <a:ext cx="718647" cy="544865"/>
          </a:xfrm>
          <a:custGeom>
            <a:avLst/>
            <a:gdLst/>
            <a:ahLst/>
            <a:cxnLst/>
            <a:rect r="r" b="b" t="t" l="l"/>
            <a:pathLst>
              <a:path h="544865" w="718647">
                <a:moveTo>
                  <a:pt x="0" y="0"/>
                </a:moveTo>
                <a:lnTo>
                  <a:pt x="718647" y="0"/>
                </a:lnTo>
                <a:lnTo>
                  <a:pt x="718647" y="544865"/>
                </a:lnTo>
                <a:lnTo>
                  <a:pt x="0" y="544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83744" y="2559827"/>
            <a:ext cx="9587450" cy="191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9"/>
              </a:lnSpc>
            </a:pPr>
            <a:r>
              <a:rPr lang="en-US" sz="699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Fe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ature Distribu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t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on &amp; Rel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ationships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31768" y="5142865"/>
            <a:ext cx="7321246" cy="411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</a:t>
            </a: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 Distribution &amp; Relationships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Important observations:</a:t>
            </a:r>
          </a:p>
          <a:p>
            <a:pPr algn="just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Battery Level had the highest number of detected outliers: 152.</a:t>
            </a:r>
          </a:p>
          <a:p>
            <a:pPr algn="just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Memory had 55 outliers.</a:t>
            </a:r>
          </a:p>
          <a:p>
            <a:pPr algn="just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Rear Camera had 39 outliers.</a:t>
            </a:r>
          </a:p>
          <a:p>
            <a:pPr algn="just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Price had 25 outliers.</a:t>
            </a:r>
          </a:p>
          <a:p>
            <a:pPr algn="just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RAM showed no detected outliers.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324605" y="1163240"/>
            <a:ext cx="5239522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Explo</a:t>
            </a: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ratory &amp; Feature Analysis</a:t>
            </a:r>
          </a:p>
          <a:p>
            <a:pPr algn="r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099793" y="3625346"/>
            <a:ext cx="5557848" cy="5632954"/>
          </a:xfrm>
          <a:custGeom>
            <a:avLst/>
            <a:gdLst/>
            <a:ahLst/>
            <a:cxnLst/>
            <a:rect r="r" b="b" t="t" l="l"/>
            <a:pathLst>
              <a:path h="5632954" w="5557848">
                <a:moveTo>
                  <a:pt x="0" y="0"/>
                </a:moveTo>
                <a:lnTo>
                  <a:pt x="5557849" y="0"/>
                </a:lnTo>
                <a:lnTo>
                  <a:pt x="5557849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07764" y="464826"/>
            <a:ext cx="757349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ature Extraction &amp; Model Building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184594" y="543531"/>
            <a:ext cx="718647" cy="544865"/>
          </a:xfrm>
          <a:custGeom>
            <a:avLst/>
            <a:gdLst/>
            <a:ahLst/>
            <a:cxnLst/>
            <a:rect r="r" b="b" t="t" l="l"/>
            <a:pathLst>
              <a:path h="544865" w="718647">
                <a:moveTo>
                  <a:pt x="0" y="0"/>
                </a:moveTo>
                <a:lnTo>
                  <a:pt x="718647" y="0"/>
                </a:lnTo>
                <a:lnTo>
                  <a:pt x="718647" y="544865"/>
                </a:lnTo>
                <a:lnTo>
                  <a:pt x="0" y="5448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45813" y="1817085"/>
            <a:ext cx="10402491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</a:t>
            </a:r>
            <a:r>
              <a:rPr lang="en-US" sz="5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achine Learning Workflow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2906" y="3551270"/>
            <a:ext cx="12405952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Features → Enco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ding/Transformation → Train-Test Split → Model Training → Prediction → Evaluation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-2394" y="-220547"/>
            <a:ext cx="2062188" cy="3306716"/>
          </a:xfrm>
          <a:custGeom>
            <a:avLst/>
            <a:gdLst/>
            <a:ahLst/>
            <a:cxnLst/>
            <a:rect r="r" b="b" t="t" l="l"/>
            <a:pathLst>
              <a:path h="3306716" w="2062188">
                <a:moveTo>
                  <a:pt x="0" y="0"/>
                </a:moveTo>
                <a:lnTo>
                  <a:pt x="2062188" y="0"/>
                </a:lnTo>
                <a:lnTo>
                  <a:pt x="2062188" y="3306716"/>
                </a:lnTo>
                <a:lnTo>
                  <a:pt x="0" y="33067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10737483">
            <a:off x="16392433" y="7293782"/>
            <a:ext cx="2062188" cy="3306716"/>
          </a:xfrm>
          <a:custGeom>
            <a:avLst/>
            <a:gdLst/>
            <a:ahLst/>
            <a:cxnLst/>
            <a:rect r="r" b="b" t="t" l="l"/>
            <a:pathLst>
              <a:path h="3306716" w="2062188">
                <a:moveTo>
                  <a:pt x="0" y="3306716"/>
                </a:moveTo>
                <a:lnTo>
                  <a:pt x="2062189" y="3306716"/>
                </a:lnTo>
                <a:lnTo>
                  <a:pt x="2062189" y="0"/>
                </a:lnTo>
                <a:lnTo>
                  <a:pt x="0" y="0"/>
                </a:lnTo>
                <a:lnTo>
                  <a:pt x="0" y="330671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0150" y="5864958"/>
            <a:ext cx="14229800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</a:t>
            </a: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dels used: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KNN Regressor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Decision Tree Regressor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Forest Regressor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Project brief also recommends regression algorithms such as Linear Regression, Decision Tree and Random Forest for price prediction. 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99942" y="-7829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943" y="2584429"/>
            <a:ext cx="690792" cy="523746"/>
          </a:xfrm>
          <a:custGeom>
            <a:avLst/>
            <a:gdLst/>
            <a:ahLst/>
            <a:cxnLst/>
            <a:rect r="r" b="b" t="t" l="l"/>
            <a:pathLst>
              <a:path h="523746" w="690792">
                <a:moveTo>
                  <a:pt x="0" y="0"/>
                </a:moveTo>
                <a:lnTo>
                  <a:pt x="690792" y="0"/>
                </a:lnTo>
                <a:lnTo>
                  <a:pt x="690792" y="523745"/>
                </a:lnTo>
                <a:lnTo>
                  <a:pt x="0" y="523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85099" y="5436950"/>
            <a:ext cx="10280195" cy="4560086"/>
          </a:xfrm>
          <a:custGeom>
            <a:avLst/>
            <a:gdLst/>
            <a:ahLst/>
            <a:cxnLst/>
            <a:rect r="r" b="b" t="t" l="l"/>
            <a:pathLst>
              <a:path h="4560086" w="10280195">
                <a:moveTo>
                  <a:pt x="0" y="0"/>
                </a:moveTo>
                <a:lnTo>
                  <a:pt x="10280195" y="0"/>
                </a:lnTo>
                <a:lnTo>
                  <a:pt x="10280195" y="4560086"/>
                </a:lnTo>
                <a:lnTo>
                  <a:pt x="0" y="4560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40936" y="4972050"/>
            <a:ext cx="5237720" cy="237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8"/>
              </a:lnSpc>
            </a:pP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27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ndom Forest achieved the lowest MAE (0.07) and highest R² (0.89) among the compared models, so it was selected as the final model.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720" y="2416772"/>
            <a:ext cx="7125828" cy="191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B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es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t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M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o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del: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R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a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ndom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 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Fore</a:t>
            </a:r>
            <a:r>
              <a:rPr lang="en-US" sz="6999" strike="noStrike" u="none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st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38073" y="351790"/>
            <a:ext cx="797867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Key Fin</a:t>
            </a:r>
            <a:r>
              <a:rPr lang="en-US" sz="33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dings &amp; Business Recommendations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498535" y="451614"/>
            <a:ext cx="690792" cy="523746"/>
          </a:xfrm>
          <a:custGeom>
            <a:avLst/>
            <a:gdLst/>
            <a:ahLst/>
            <a:cxnLst/>
            <a:rect r="r" b="b" t="t" l="l"/>
            <a:pathLst>
              <a:path h="523746" w="690792">
                <a:moveTo>
                  <a:pt x="0" y="0"/>
                </a:moveTo>
                <a:lnTo>
                  <a:pt x="690792" y="0"/>
                </a:lnTo>
                <a:lnTo>
                  <a:pt x="690792" y="523746"/>
                </a:lnTo>
                <a:lnTo>
                  <a:pt x="0" y="523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246912"/>
            <a:ext cx="17533097" cy="681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8"/>
              </a:lnSpc>
            </a:pPr>
            <a:r>
              <a:rPr lang="en-US" sz="296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Findings</a:t>
            </a:r>
          </a:p>
          <a:p>
            <a:pPr algn="l" marL="639688" indent="-319844" lvl="1">
              <a:lnSpc>
                <a:spcPts val="4148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Smartphone price can be predicted using technical specifications.</a:t>
            </a:r>
          </a:p>
          <a:p>
            <a:pPr algn="l" marL="639688" indent="-319844" lvl="1">
              <a:lnSpc>
                <a:spcPts val="4148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AM, Memory, Battery, Camera and Processor provide useful information for pricing analysis.</a:t>
            </a:r>
          </a:p>
          <a:p>
            <a:pPr algn="l" marL="639688" indent="-319844" lvl="1">
              <a:lnSpc>
                <a:spcPts val="4148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preprocessing significantly improves ML readiness.</a:t>
            </a:r>
          </a:p>
          <a:p>
            <a:pPr algn="l" marL="639688" indent="-319844" lvl="1">
              <a:lnSpc>
                <a:spcPts val="4148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Forest delivered the strongest predictive performance with R² = 0.89. </a:t>
            </a:r>
          </a:p>
          <a:p>
            <a:pPr algn="l" marL="639688" indent="-319844" lvl="1">
              <a:lnSpc>
                <a:spcPts val="4148"/>
              </a:lnSpc>
              <a:buFont typeface="Arial"/>
              <a:buChar char="•"/>
            </a:pPr>
          </a:p>
          <a:p>
            <a:pPr algn="l">
              <a:lnSpc>
                <a:spcPts val="4148"/>
              </a:lnSpc>
            </a:pPr>
            <a:r>
              <a:rPr lang="en-US" sz="296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Recommendations</a:t>
            </a:r>
          </a:p>
          <a:p>
            <a:pPr algn="l" marL="639688" indent="-319844" lvl="1">
              <a:lnSpc>
                <a:spcPts val="4148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important specifications to support competitive pricing.</a:t>
            </a:r>
          </a:p>
          <a:p>
            <a:pPr algn="l" marL="639688" indent="-319844" lvl="1">
              <a:lnSpc>
                <a:spcPts val="4148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 feature combinations associated with higher-priced smartphones.</a:t>
            </a:r>
          </a:p>
          <a:p>
            <a:pPr algn="l" marL="639688" indent="-319844" lvl="1">
              <a:lnSpc>
                <a:spcPts val="4148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ML predictions to support pricing and marketing decisions.</a:t>
            </a:r>
          </a:p>
          <a:p>
            <a:pPr algn="l" marL="639688" indent="-319844" lvl="1">
              <a:lnSpc>
                <a:spcPts val="4148"/>
              </a:lnSpc>
              <a:buFont typeface="Arial"/>
              <a:buChar char="•"/>
            </a:pPr>
            <a:r>
              <a:rPr lang="en-US" sz="29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Periodically retrain the model as smartphone specifications and mar</a:t>
            </a:r>
          </a:p>
          <a:p>
            <a:pPr algn="l">
              <a:lnSpc>
                <a:spcPts val="414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499942" y="-7829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76056" y="7252480"/>
            <a:ext cx="2062188" cy="3306716"/>
          </a:xfrm>
          <a:custGeom>
            <a:avLst/>
            <a:gdLst/>
            <a:ahLst/>
            <a:cxnLst/>
            <a:rect r="r" b="b" t="t" l="l"/>
            <a:pathLst>
              <a:path h="3306716" w="2062188">
                <a:moveTo>
                  <a:pt x="0" y="0"/>
                </a:moveTo>
                <a:lnTo>
                  <a:pt x="2062188" y="0"/>
                </a:lnTo>
                <a:lnTo>
                  <a:pt x="2062188" y="3306716"/>
                </a:lnTo>
                <a:lnTo>
                  <a:pt x="0" y="33067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55781" y="2859705"/>
            <a:ext cx="5536472" cy="4567590"/>
          </a:xfrm>
          <a:custGeom>
            <a:avLst/>
            <a:gdLst/>
            <a:ahLst/>
            <a:cxnLst/>
            <a:rect r="r" b="b" t="t" l="l"/>
            <a:pathLst>
              <a:path h="4567590" w="5536472">
                <a:moveTo>
                  <a:pt x="0" y="0"/>
                </a:moveTo>
                <a:lnTo>
                  <a:pt x="5536472" y="0"/>
                </a:lnTo>
                <a:lnTo>
                  <a:pt x="5536472" y="4567590"/>
                </a:lnTo>
                <a:lnTo>
                  <a:pt x="0" y="4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58928" y="1028700"/>
            <a:ext cx="1878686" cy="469671"/>
          </a:xfrm>
          <a:custGeom>
            <a:avLst/>
            <a:gdLst/>
            <a:ahLst/>
            <a:cxnLst/>
            <a:rect r="r" b="b" t="t" l="l"/>
            <a:pathLst>
              <a:path h="469671" w="1878686">
                <a:moveTo>
                  <a:pt x="0" y="0"/>
                </a:moveTo>
                <a:lnTo>
                  <a:pt x="1878685" y="0"/>
                </a:lnTo>
                <a:lnTo>
                  <a:pt x="1878685" y="469671"/>
                </a:lnTo>
                <a:lnTo>
                  <a:pt x="0" y="4696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82322" y="7281322"/>
            <a:ext cx="3953957" cy="3953957"/>
          </a:xfrm>
          <a:custGeom>
            <a:avLst/>
            <a:gdLst/>
            <a:ahLst/>
            <a:cxnLst/>
            <a:rect r="r" b="b" t="t" l="l"/>
            <a:pathLst>
              <a:path h="3953957" w="3953957">
                <a:moveTo>
                  <a:pt x="0" y="0"/>
                </a:moveTo>
                <a:lnTo>
                  <a:pt x="3953956" y="0"/>
                </a:lnTo>
                <a:lnTo>
                  <a:pt x="3953956" y="3953956"/>
                </a:lnTo>
                <a:lnTo>
                  <a:pt x="0" y="3953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DAHTSge8hU0</dc:identifier>
  <dcterms:modified xsi:type="dcterms:W3CDTF">2011-08-01T06:04:30Z</dcterms:modified>
  <cp:revision>1</cp:revision>
  <dc:title>Mobile Price Prediction Using Machine Learning</dc:title>
</cp:coreProperties>
</file>